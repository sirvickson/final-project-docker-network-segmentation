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10980-4D1A-B33B-91E0-32E081EC2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AD7979-2D67-E272-364D-3E549CF2647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1A45B4-75B8-EE31-398B-CA7873E8DDB1}"/>
              </a:ext>
            </a:extLst>
          </p:cNvPr>
          <p:cNvSpPr txBox="1"/>
          <p:nvPr/>
        </p:nvSpPr>
        <p:spPr>
          <a:xfrm>
            <a:off x="731520" y="924952"/>
            <a:ext cx="8646406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rPr dirty="0"/>
              <a:t>Docker Network Segmentation</a:t>
            </a:r>
          </a:p>
          <a:p>
            <a:pPr>
              <a:defRPr sz="2700" b="1">
                <a:solidFill>
                  <a:srgbClr val="F1F5F9"/>
                </a:solidFill>
              </a:defRPr>
            </a:pPr>
            <a:r>
              <a:rPr sz="2800" dirty="0"/>
              <a:t>A Control Against Unauthorized Host-to-Database Access</a:t>
            </a:r>
          </a:p>
          <a:p>
            <a:pPr>
              <a:defRPr sz="1700">
                <a:solidFill>
                  <a:srgbClr val="CBD5E1"/>
                </a:solidFill>
              </a:defRPr>
            </a:pPr>
            <a:r>
              <a:rPr sz="2000" dirty="0"/>
              <a:t>Security investigation • controlled before/after experiment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2B14EE2-AD30-327E-175C-BAC3A6E2326E}"/>
              </a:ext>
            </a:extLst>
          </p:cNvPr>
          <p:cNvSpPr/>
          <p:nvPr/>
        </p:nvSpPr>
        <p:spPr>
          <a:xfrm>
            <a:off x="914400" y="3977639"/>
            <a:ext cx="23774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9B8A1-1F93-A2A2-4AEB-932DAD3C18E5}"/>
              </a:ext>
            </a:extLst>
          </p:cNvPr>
          <p:cNvSpPr txBox="1"/>
          <p:nvPr/>
        </p:nvSpPr>
        <p:spPr>
          <a:xfrm>
            <a:off x="1005840" y="408736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HOST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FB4E5-89D1-C214-3F94-F906476C25B9}"/>
              </a:ext>
            </a:extLst>
          </p:cNvPr>
          <p:cNvSpPr txBox="1"/>
          <p:nvPr/>
        </p:nvSpPr>
        <p:spPr>
          <a:xfrm>
            <a:off x="1330184" y="4491816"/>
            <a:ext cx="15458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800" dirty="0"/>
              <a:t>Windows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A90DD3-5BAF-4209-8D82-C5D7D052250B}"/>
              </a:ext>
            </a:extLst>
          </p:cNvPr>
          <p:cNvSpPr/>
          <p:nvPr/>
        </p:nvSpPr>
        <p:spPr>
          <a:xfrm>
            <a:off x="4709160" y="3977639"/>
            <a:ext cx="274320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2922DC-69A2-D4F5-6764-E108BFD9D939}"/>
              </a:ext>
            </a:extLst>
          </p:cNvPr>
          <p:cNvSpPr txBox="1"/>
          <p:nvPr/>
        </p:nvSpPr>
        <p:spPr>
          <a:xfrm>
            <a:off x="4800600" y="408736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MEDUSA-NET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099B2-8F2A-40C8-ED37-5654D4C741C8}"/>
              </a:ext>
            </a:extLst>
          </p:cNvPr>
          <p:cNvSpPr txBox="1"/>
          <p:nvPr/>
        </p:nvSpPr>
        <p:spPr>
          <a:xfrm>
            <a:off x="4830642" y="4439064"/>
            <a:ext cx="25002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800" dirty="0"/>
              <a:t>Docker network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5778FF8-3A2B-741F-C1EB-BD816AB08320}"/>
              </a:ext>
            </a:extLst>
          </p:cNvPr>
          <p:cNvSpPr/>
          <p:nvPr/>
        </p:nvSpPr>
        <p:spPr>
          <a:xfrm>
            <a:off x="8961120" y="3429000"/>
            <a:ext cx="210312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64BAF1-97B7-269E-B41F-54C2B936CE7F}"/>
              </a:ext>
            </a:extLst>
          </p:cNvPr>
          <p:cNvSpPr txBox="1"/>
          <p:nvPr/>
        </p:nvSpPr>
        <p:spPr>
          <a:xfrm>
            <a:off x="9052560" y="3538728"/>
            <a:ext cx="1920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POSTGRES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0FE7D5-1CEE-8942-AA95-36A20A60F4C6}"/>
              </a:ext>
            </a:extLst>
          </p:cNvPr>
          <p:cNvSpPr txBox="1"/>
          <p:nvPr/>
        </p:nvSpPr>
        <p:spPr>
          <a:xfrm>
            <a:off x="9554862" y="3934384"/>
            <a:ext cx="9156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800" dirty="0"/>
              <a:t>5432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F9AD6A2-44ED-9F21-F18B-4E4D05473659}"/>
              </a:ext>
            </a:extLst>
          </p:cNvPr>
          <p:cNvSpPr/>
          <p:nvPr/>
        </p:nvSpPr>
        <p:spPr>
          <a:xfrm>
            <a:off x="8961120" y="4709160"/>
            <a:ext cx="210312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AE538-CDBB-8F82-E77F-21D9AE24C8A7}"/>
              </a:ext>
            </a:extLst>
          </p:cNvPr>
          <p:cNvSpPr txBox="1"/>
          <p:nvPr/>
        </p:nvSpPr>
        <p:spPr>
          <a:xfrm>
            <a:off x="9052560" y="4818888"/>
            <a:ext cx="1920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REDIS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51D7F7-FD3F-D7C4-3F49-33642531DF68}"/>
              </a:ext>
            </a:extLst>
          </p:cNvPr>
          <p:cNvSpPr txBox="1"/>
          <p:nvPr/>
        </p:nvSpPr>
        <p:spPr>
          <a:xfrm>
            <a:off x="9554862" y="5276088"/>
            <a:ext cx="9156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800" dirty="0"/>
              <a:t>6379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F681625F-9992-9E27-BFE3-3328418131FD}"/>
              </a:ext>
            </a:extLst>
          </p:cNvPr>
          <p:cNvCxnSpPr/>
          <p:nvPr/>
        </p:nvCxnSpPr>
        <p:spPr>
          <a:xfrm>
            <a:off x="3291840" y="4498848"/>
            <a:ext cx="1371600" cy="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160A5A65-48AB-DBC0-4457-88C207672A1D}"/>
              </a:ext>
            </a:extLst>
          </p:cNvPr>
          <p:cNvCxnSpPr/>
          <p:nvPr/>
        </p:nvCxnSpPr>
        <p:spPr>
          <a:xfrm flipV="1">
            <a:off x="7498079" y="3950208"/>
            <a:ext cx="1417321" cy="301752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062FB7A7-D031-4E6D-44F8-B56F00732783}"/>
              </a:ext>
            </a:extLst>
          </p:cNvPr>
          <p:cNvCxnSpPr/>
          <p:nvPr/>
        </p:nvCxnSpPr>
        <p:spPr>
          <a:xfrm>
            <a:off x="7498079" y="4709160"/>
            <a:ext cx="1417321" cy="521208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284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rPr sz="2800" dirty="0"/>
              <a:t>• PostgreSQL and Redis were initially exposed through Docker host port mappings.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rPr sz="2800" dirty="0"/>
              <a:t>• That created a direct host-to-service connectivity path to database infrastructure.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rPr sz="2800" dirty="0"/>
              <a:t>• The investigation tests whether segmentation removes that path while preserving authorized container-to-service communication.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rPr sz="2800" dirty="0"/>
              <a:t>• Focus: a measurable security control, not a claim about production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3. Research Question &amp; Hypothesis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394960" cy="3749039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9047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1" y="1879799"/>
            <a:ext cx="5410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800" dirty="0"/>
              <a:t>Does configuring PostgreSQL and Redis on an internal Docker </a:t>
            </a:r>
            <a:endParaRPr lang="en-GB" sz="2800" dirty="0"/>
          </a:p>
          <a:p>
            <a:pPr>
              <a:defRPr sz="1400">
                <a:solidFill>
                  <a:srgbClr val="F1F5F9"/>
                </a:solidFill>
              </a:defRPr>
            </a:pPr>
            <a:r>
              <a:rPr sz="2800" dirty="0"/>
              <a:t>network prevent direct host-to-database connectivity while preserving application-container connectivity to those services in the authorized Docker environment?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3749039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90472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1" y="1941344"/>
            <a:ext cx="446649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800" dirty="0"/>
              <a:t>If PostgreSQL and Redis are placed on an internal Docker network without host port exposure, host-originated tests will fail while application-container connectivity will succeed.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4.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15104"/>
            <a:ext cx="1069848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rPr sz="2800" dirty="0"/>
              <a:t>• Establish a reproducible Docker baseline.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rPr sz="2800" dirty="0"/>
              <a:t>• Measure host-to-PostgreSQL and host-to-Redis connectivity before the control.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rPr sz="2800" dirty="0"/>
              <a:t>• Measure application-container connectivity to both services.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rPr sz="2800" dirty="0"/>
              <a:t>• Apply segmentation: remove published ports and set the Docker network to internal.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rPr sz="2800" dirty="0"/>
              <a:t>• Repeat the tests and compare before/after observations.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rPr sz="2800" dirty="0"/>
              <a:t>• Document evidence, alternative explanations, limitations, and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5. Threat &amp; Security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19456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2011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WINDOWS 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9119" y="2395728"/>
            <a:ext cx="10679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800" dirty="0"/>
              <a:t>Origin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82880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39" y="193852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PUBLISHED 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7253" y="2334184"/>
            <a:ext cx="19495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800" dirty="0"/>
              <a:t>5432 / 6379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32588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59" y="143560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POSTGRES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7595" y="1822471"/>
            <a:ext cx="15411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800" dirty="0"/>
              <a:t>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74320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59" y="285292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59" y="3310128"/>
            <a:ext cx="2286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t>Cache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2377440"/>
            <a:ext cx="685800" cy="0"/>
          </a:xfrm>
          <a:prstGeom prst="line">
            <a:avLst/>
          </a:prstGeom>
          <a:ln w="317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172200" y="1874519"/>
            <a:ext cx="685800" cy="502921"/>
          </a:xfrm>
          <a:prstGeom prst="line">
            <a:avLst/>
          </a:prstGeom>
          <a:ln w="317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2377440"/>
            <a:ext cx="685800" cy="914400"/>
          </a:xfrm>
          <a:prstGeom prst="line">
            <a:avLst/>
          </a:prstGeom>
          <a:ln w="317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1160585"/>
            <a:ext cx="1828800" cy="3543299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9800" y="1193304"/>
            <a:ext cx="11176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rPr lang="en-GB" sz="2800" dirty="0"/>
              <a:t>    </a:t>
            </a:r>
            <a:r>
              <a:rPr sz="2800" dirty="0"/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635374"/>
            <a:ext cx="1828801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100" dirty="0"/>
              <a:t>Direct reachability increases attack surface.</a:t>
            </a:r>
            <a:br>
              <a:rPr sz="2100" dirty="0"/>
            </a:br>
            <a:br>
              <a:rPr sz="2100" dirty="0"/>
            </a:br>
            <a:r>
              <a:rPr sz="2100" dirty="0"/>
              <a:t>Control goal:</a:t>
            </a:r>
            <a:br>
              <a:rPr sz="2100" dirty="0"/>
            </a:br>
            <a:r>
              <a:rPr sz="2100" dirty="0"/>
              <a:t>remove the unnecessary host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6. Baseline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Before segmentation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28600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3042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WINDOWS 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449" y="2594438"/>
            <a:ext cx="238238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800" dirty="0"/>
              <a:t>127.0.0.1:5432</a:t>
            </a:r>
            <a:br>
              <a:rPr sz="2800" dirty="0"/>
            </a:br>
            <a:r>
              <a:rPr sz="2800" dirty="0"/>
              <a:t>127.0.0.1:6379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600200"/>
            <a:ext cx="3749039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77639" y="1709928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MEDUSA-NET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88172" y="2167128"/>
            <a:ext cx="3145092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800" dirty="0"/>
              <a:t>bridge</a:t>
            </a:r>
            <a:br>
              <a:rPr sz="2800" dirty="0"/>
            </a:br>
            <a:r>
              <a:rPr sz="2800" dirty="0"/>
              <a:t>Internal: false</a:t>
            </a:r>
            <a:br>
              <a:rPr sz="2800" dirty="0"/>
            </a:br>
            <a:r>
              <a:rPr sz="2800" dirty="0"/>
              <a:t>Published ports: 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32588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143560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POSTGRES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6967" y="1848847"/>
            <a:ext cx="17427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800" dirty="0"/>
              <a:t>5432:5432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297180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308152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6967" y="3538728"/>
            <a:ext cx="17427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800" dirty="0"/>
              <a:t>6379:6379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892040"/>
            <a:ext cx="28346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5001768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APP-TEST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4128" y="5371048"/>
            <a:ext cx="24931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800" dirty="0"/>
              <a:t>Container client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34640" y="2514600"/>
            <a:ext cx="1005840" cy="0"/>
          </a:xfrm>
          <a:prstGeom prst="line">
            <a:avLst/>
          </a:prstGeom>
          <a:ln w="317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635240" y="1874519"/>
            <a:ext cx="822960" cy="365761"/>
          </a:xfrm>
          <a:prstGeom prst="line">
            <a:avLst/>
          </a:prstGeom>
          <a:ln w="317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35240" y="2926080"/>
            <a:ext cx="822960" cy="502920"/>
          </a:xfrm>
          <a:prstGeom prst="line">
            <a:avLst/>
          </a:prstGeom>
          <a:ln w="317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760720" y="4251960"/>
            <a:ext cx="0" cy="59436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23760" y="3611880"/>
            <a:ext cx="1188720" cy="114300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223760" y="2468880"/>
            <a:ext cx="1188720" cy="228600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7. Baseline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3035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90472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T-001  Host →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453" y="2011680"/>
            <a:ext cx="42053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800" dirty="0"/>
              <a:t>127.0.0.1:5432 = TRUE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63240"/>
            <a:ext cx="53035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182112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T-002  Host → Redis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0584" y="3703320"/>
            <a:ext cx="36400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800" dirty="0"/>
              <a:t>127.0.0.1:6379 =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90472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T-003  app-test →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6947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800" dirty="0"/>
              <a:t>medusa-postgres:5432 = OPEN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53035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182112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T-004  app-test → 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03320"/>
            <a:ext cx="41617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800" dirty="0"/>
              <a:t>medusa-redis:6379 = 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892040"/>
            <a:ext cx="6675120" cy="1227406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0" y="5010912"/>
            <a:ext cx="63093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Baseline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79" y="5304928"/>
            <a:ext cx="649224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800" dirty="0"/>
              <a:t>Both</a:t>
            </a:r>
            <a:r>
              <a:rPr sz="2400" dirty="0"/>
              <a:t> application paths worked, but the host also had direct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8. Security Control: Network Segmentation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2860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19385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787" y="2466064"/>
            <a:ext cx="227658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Published ports</a:t>
            </a:r>
            <a:r>
              <a:rPr lang="en-GB" sz="2400" dirty="0"/>
              <a:t>a</a:t>
            </a:r>
            <a:endParaRPr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3657600" y="1828800"/>
            <a:ext cx="25603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39" y="1938528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ACC15"/>
                </a:solidFill>
              </a:defRPr>
            </a:pPr>
            <a: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8265" y="2325392"/>
            <a:ext cx="191898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Remove ports</a:t>
            </a:r>
            <a:br>
              <a:rPr sz="2400" dirty="0"/>
            </a:br>
            <a:r>
              <a:rPr sz="2400" dirty="0"/>
              <a:t>internal: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828800"/>
            <a:ext cx="25603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59" y="1938528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7977" y="2430896"/>
            <a:ext cx="237180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No host exposure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71800" y="2468880"/>
            <a:ext cx="640080" cy="0"/>
          </a:xfrm>
          <a:prstGeom prst="line">
            <a:avLst/>
          </a:prstGeom>
          <a:ln w="317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63640" y="2468880"/>
            <a:ext cx="594360" cy="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103120" y="3977639"/>
            <a:ext cx="8046720" cy="1359292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6000" y="4096511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Preserved trust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382088"/>
            <a:ext cx="74119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000" dirty="0"/>
              <a:t>PostgreSQL, Redis, and app-test remain attached to medusa-net so the authorized container path can continue.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9. Segmented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After segmentation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28600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3042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WINDOWS 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557" y="2664776"/>
            <a:ext cx="205216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127.0.0.1:5432</a:t>
            </a:r>
            <a:br>
              <a:rPr sz="2400" dirty="0"/>
            </a:br>
            <a:r>
              <a:rPr sz="2400" dirty="0"/>
              <a:t>127.0.0.1:6379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600200"/>
            <a:ext cx="3749039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77639" y="1709928"/>
            <a:ext cx="3566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MEDUSA-NET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46" y="2167128"/>
            <a:ext cx="268214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bridge</a:t>
            </a:r>
            <a:br>
              <a:rPr sz="2400" dirty="0"/>
            </a:br>
            <a:r>
              <a:rPr sz="2400" dirty="0"/>
              <a:t>Internal: true</a:t>
            </a:r>
            <a:br>
              <a:rPr sz="2400" dirty="0"/>
            </a:br>
            <a:r>
              <a:rPr sz="2400" dirty="0"/>
              <a:t>Published ports: 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325880"/>
            <a:ext cx="2468880" cy="1195708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143560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POSTGRES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7581" y="1743343"/>
            <a:ext cx="194155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5432/</a:t>
            </a:r>
            <a:r>
              <a:rPr sz="2400" dirty="0" err="1"/>
              <a:t>tcp</a:t>
            </a:r>
            <a:br>
              <a:rPr sz="2400" dirty="0"/>
            </a:br>
            <a:r>
              <a:rPr sz="2400" dirty="0"/>
              <a:t>Not published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2971799"/>
            <a:ext cx="2468880" cy="1280161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308152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7581" y="3433224"/>
            <a:ext cx="194155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6379/</a:t>
            </a:r>
            <a:r>
              <a:rPr sz="2400" dirty="0" err="1"/>
              <a:t>tcp</a:t>
            </a:r>
            <a:br>
              <a:rPr sz="2400" dirty="0"/>
            </a:br>
            <a:r>
              <a:rPr sz="2400" dirty="0"/>
              <a:t>Not published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892040"/>
            <a:ext cx="28346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5001768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APP-TEST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8500" y="5362256"/>
            <a:ext cx="216443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Container client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34640" y="2514600"/>
            <a:ext cx="1005840" cy="0"/>
          </a:xfrm>
          <a:prstGeom prst="line">
            <a:avLst/>
          </a:prstGeom>
          <a:ln w="31750">
            <a:solidFill>
              <a:srgbClr val="F8717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635240" y="1874519"/>
            <a:ext cx="822960" cy="365761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35240" y="2926080"/>
            <a:ext cx="822960" cy="50292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760720" y="4251960"/>
            <a:ext cx="0" cy="59436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23760" y="3611880"/>
            <a:ext cx="1188720" cy="114300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223760" y="2468880"/>
            <a:ext cx="1188720" cy="228600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44068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Host path blocked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10. Test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44752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Host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878040"/>
            <a:ext cx="32478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400" dirty="0"/>
              <a:t>T-001 / T-002</a:t>
            </a:r>
            <a:br>
              <a:rPr sz="2400" dirty="0"/>
            </a:br>
            <a:r>
              <a:rPr sz="2400" dirty="0"/>
              <a:t>Baseline host tests</a:t>
            </a:r>
            <a:br>
              <a:rPr sz="2400" dirty="0"/>
            </a:br>
            <a:br>
              <a:rPr sz="2400" dirty="0"/>
            </a:br>
            <a:r>
              <a:rPr sz="2400" dirty="0"/>
              <a:t>T-005 / T-006</a:t>
            </a:r>
            <a:br>
              <a:rPr sz="2400" dirty="0"/>
            </a:br>
            <a:r>
              <a:rPr sz="2400" dirty="0"/>
              <a:t>Segmented loopback tests</a:t>
            </a:r>
            <a:br>
              <a:rPr sz="2400" dirty="0"/>
            </a:br>
            <a:br>
              <a:rPr sz="2400" dirty="0"/>
            </a:br>
            <a:r>
              <a:rPr sz="2400" dirty="0"/>
              <a:t>T-009 / T-010</a:t>
            </a:r>
            <a:br>
              <a:rPr sz="2400" dirty="0"/>
            </a:br>
            <a:r>
              <a:rPr sz="2400" dirty="0"/>
              <a:t>Segmented direct-IP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444752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Container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922000"/>
            <a:ext cx="32285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400" dirty="0"/>
              <a:t>T-003 / T-004</a:t>
            </a:r>
            <a:br>
              <a:rPr sz="2400" dirty="0"/>
            </a:br>
            <a:r>
              <a:rPr sz="2400" dirty="0"/>
              <a:t>Baseline app-test tests</a:t>
            </a:r>
            <a:br>
              <a:rPr sz="2400" dirty="0"/>
            </a:br>
            <a:br>
              <a:rPr sz="2400" dirty="0"/>
            </a:br>
            <a:r>
              <a:rPr sz="2400" dirty="0"/>
              <a:t>T-007 / T-008</a:t>
            </a:r>
            <a:br>
              <a:rPr sz="2400" dirty="0"/>
            </a:br>
            <a:r>
              <a:rPr sz="2400" dirty="0"/>
              <a:t>Segmented app-test tests</a:t>
            </a:r>
            <a:br>
              <a:rPr sz="2400" dirty="0"/>
            </a:br>
            <a:br>
              <a:rPr sz="2400" dirty="0"/>
            </a:br>
            <a:r>
              <a:rPr sz="2400" dirty="0"/>
              <a:t>Same ports and controlled client.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5204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444752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04416"/>
            <a:ext cx="3401059" cy="3046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400" dirty="0"/>
              <a:t>Compose configuration</a:t>
            </a:r>
            <a:br>
              <a:rPr sz="2400" dirty="0"/>
            </a:br>
            <a:r>
              <a:rPr sz="2400" dirty="0"/>
              <a:t>Compose status</a:t>
            </a:r>
            <a:br>
              <a:rPr sz="2400" dirty="0"/>
            </a:br>
            <a:r>
              <a:rPr sz="2400" dirty="0"/>
              <a:t>Network inspection</a:t>
            </a:r>
            <a:br>
              <a:rPr sz="2400" dirty="0"/>
            </a:br>
            <a:r>
              <a:rPr sz="2400" dirty="0"/>
              <a:t>Port mappings</a:t>
            </a:r>
            <a:br>
              <a:rPr sz="2400" dirty="0"/>
            </a:br>
            <a:r>
              <a:rPr sz="2400" dirty="0"/>
              <a:t>Terminal outputs</a:t>
            </a:r>
            <a:br>
              <a:rPr sz="2400" dirty="0"/>
            </a:br>
            <a:r>
              <a:rPr sz="2400" dirty="0"/>
              <a:t>Screenshots</a:t>
            </a:r>
            <a:br>
              <a:rPr sz="2400" dirty="0"/>
            </a:br>
            <a:br>
              <a:rPr sz="2400" dirty="0"/>
            </a:br>
            <a:r>
              <a:rPr sz="2400" dirty="0"/>
              <a:t>Evidence IDs E-001–E-015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11. Evidence: Host Access Blocked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19456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2011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391" y="2168888"/>
            <a:ext cx="158081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Test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143000"/>
            <a:ext cx="274320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79" y="125272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POSTGRES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7323" y="1674760"/>
            <a:ext cx="8066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5432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971800"/>
            <a:ext cx="274320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79" y="308152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REDIS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7323" y="3485976"/>
            <a:ext cx="8066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6379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971800" y="1664208"/>
            <a:ext cx="685800" cy="512064"/>
          </a:xfrm>
          <a:prstGeom prst="line">
            <a:avLst/>
          </a:prstGeom>
          <a:ln w="31750">
            <a:solidFill>
              <a:srgbClr val="F8717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71800" y="2331720"/>
            <a:ext cx="685800" cy="1161288"/>
          </a:xfrm>
          <a:prstGeom prst="line">
            <a:avLst/>
          </a:prstGeom>
          <a:ln w="31750">
            <a:solidFill>
              <a:srgbClr val="F8717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95160" y="1325880"/>
            <a:ext cx="42976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1444752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Observed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860456"/>
            <a:ext cx="3869136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000" dirty="0"/>
              <a:t>PostgreSQL:</a:t>
            </a:r>
            <a:br>
              <a:rPr sz="2000" dirty="0"/>
            </a:br>
            <a:r>
              <a:rPr sz="2000" dirty="0" err="1"/>
              <a:t>TcpTestSucceeded</a:t>
            </a:r>
            <a:r>
              <a:rPr sz="2000" dirty="0"/>
              <a:t> = False</a:t>
            </a:r>
            <a:br>
              <a:rPr sz="2000" dirty="0"/>
            </a:br>
            <a:br>
              <a:rPr sz="2000" dirty="0"/>
            </a:br>
            <a:r>
              <a:rPr sz="2000" dirty="0"/>
              <a:t>Redis:</a:t>
            </a:r>
            <a:br>
              <a:rPr sz="2000" dirty="0"/>
            </a:br>
            <a:r>
              <a:rPr sz="2000" dirty="0" err="1"/>
              <a:t>TcpTestSucceeded</a:t>
            </a:r>
            <a:r>
              <a:rPr sz="2000" dirty="0"/>
              <a:t> = False</a:t>
            </a:r>
            <a:br>
              <a:rPr sz="2000" dirty="0"/>
            </a:br>
            <a:br>
              <a:rPr sz="2000" dirty="0"/>
            </a:br>
            <a:r>
              <a:rPr sz="2000" dirty="0"/>
              <a:t>Direct container-IP tests also failed.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4343400"/>
            <a:ext cx="42976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78040" y="4462272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886768"/>
            <a:ext cx="34692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400" dirty="0"/>
              <a:t>E-008, E-009, E-012, E-013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12. Evidence: Application Access Preserved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246888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6712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APP-TEST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5057" y="2624328"/>
            <a:ext cx="23818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000" dirty="0"/>
              <a:t>Authorized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25603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481328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POSTGRES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8844" y="1912152"/>
            <a:ext cx="8066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5432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154680"/>
            <a:ext cx="25603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3264408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REDIS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8844" y="3677648"/>
            <a:ext cx="8066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rPr sz="2400" dirty="0"/>
              <a:t>6379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246120" y="1920240"/>
            <a:ext cx="1280160" cy="59436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46120" y="2743200"/>
            <a:ext cx="1280160" cy="96012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09560" y="1417320"/>
            <a:ext cx="33832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15361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Observed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1" y="1784839"/>
            <a:ext cx="3100167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1900" dirty="0"/>
              <a:t>T-007:</a:t>
            </a:r>
            <a:br>
              <a:rPr sz="1900" dirty="0"/>
            </a:br>
            <a:r>
              <a:rPr sz="1900" dirty="0"/>
              <a:t>PostgreSQL = OPEN</a:t>
            </a:r>
            <a:br>
              <a:rPr sz="1900" dirty="0"/>
            </a:br>
            <a:br>
              <a:rPr sz="1900" dirty="0"/>
            </a:br>
            <a:r>
              <a:rPr sz="1900" dirty="0"/>
              <a:t>T-008:</a:t>
            </a:r>
            <a:br>
              <a:rPr sz="1900" dirty="0"/>
            </a:br>
            <a:r>
              <a:rPr sz="1900" dirty="0"/>
              <a:t>Redis = OPEN</a:t>
            </a:r>
            <a:endParaRPr lang="en-GB" sz="1900" dirty="0"/>
          </a:p>
          <a:p>
            <a:pPr>
              <a:defRPr sz="1400">
                <a:solidFill>
                  <a:srgbClr val="F1F5F9"/>
                </a:solidFill>
              </a:defRPr>
            </a:pPr>
            <a:br>
              <a:rPr sz="1900" dirty="0"/>
            </a:br>
            <a:r>
              <a:rPr sz="1900" dirty="0"/>
              <a:t>Required container path preserved.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427995"/>
            <a:ext cx="33832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455371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978208"/>
            <a:ext cx="175400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400" dirty="0"/>
              <a:t>E-010, E-011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13. Results &amp;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365760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417320"/>
            <a:ext cx="3511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Test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25880"/>
            <a:ext cx="19202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28032" y="1417320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25880"/>
            <a:ext cx="19202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31152" y="1417320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Segmented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03120"/>
            <a:ext cx="365760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194560"/>
            <a:ext cx="3511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Host → 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103120"/>
            <a:ext cx="19202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8032" y="2194560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ALLOWED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103120"/>
            <a:ext cx="19202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31152" y="2194560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880360"/>
            <a:ext cx="365760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2971800"/>
            <a:ext cx="3511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Host → Redis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880360"/>
            <a:ext cx="19202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28032" y="2971800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ALLOWED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880360"/>
            <a:ext cx="19202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2971800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BLOCKED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657600"/>
            <a:ext cx="365760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3749039"/>
            <a:ext cx="3511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app-test → PostgreSQL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3657600"/>
            <a:ext cx="19202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28032" y="3749039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ALLOWED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657600"/>
            <a:ext cx="19202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31152" y="3749039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ALLOWED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434840"/>
            <a:ext cx="365760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" y="4526279"/>
            <a:ext cx="35112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app-test → Redis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434840"/>
            <a:ext cx="19202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28032" y="4526279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ALLOWED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4434840"/>
            <a:ext cx="19202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31152" y="4526279"/>
            <a:ext cx="1773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</a:defRPr>
            </a:pPr>
            <a:r>
              <a:t>ALLOWED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1325880"/>
            <a:ext cx="2194560" cy="36118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81159" y="144475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Core finding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59" y="1965960"/>
            <a:ext cx="184708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000" dirty="0"/>
              <a:t>The observed before/after behavior matches the hypothesis for the combined segmented configuration.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54480" y="5565527"/>
            <a:ext cx="7150608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737360" y="5605272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Bottom 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13/15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5783581"/>
            <a:ext cx="6773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000" dirty="0"/>
              <a:t>Host access was removed while authorized container access remained functional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14. Risk, Limitations &amp;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6576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Risk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21594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000" dirty="0"/>
              <a:t>Removes published database ports</a:t>
            </a:r>
            <a:br>
              <a:rPr sz="2000" dirty="0"/>
            </a:br>
            <a:br>
              <a:rPr sz="2000" dirty="0"/>
            </a:br>
            <a:r>
              <a:rPr sz="2000" dirty="0"/>
              <a:t>Reduces direct host attack surface</a:t>
            </a:r>
            <a:br>
              <a:rPr sz="2000" dirty="0"/>
            </a:br>
            <a:br>
              <a:rPr sz="2000" dirty="0"/>
            </a:br>
            <a:r>
              <a:rPr sz="2000" dirty="0"/>
              <a:t>Preserves required container-to-service paths</a:t>
            </a:r>
            <a:br>
              <a:rPr sz="2000" dirty="0"/>
            </a:br>
            <a:br>
              <a:rPr sz="2000" dirty="0"/>
            </a:br>
            <a:r>
              <a:rPr sz="2000" dirty="0"/>
              <a:t>Supports least-privilege network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6576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44475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339207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000" dirty="0"/>
              <a:t>Docker Desktop/host networking can affect observations</a:t>
            </a:r>
            <a:br>
              <a:rPr sz="2000" dirty="0"/>
            </a:br>
            <a:br>
              <a:rPr sz="2000" dirty="0"/>
            </a:br>
            <a:r>
              <a:rPr sz="2000" dirty="0"/>
              <a:t>Host firewall/service state are alternative explanations</a:t>
            </a:r>
            <a:br>
              <a:rPr sz="2000" dirty="0"/>
            </a:br>
            <a:br>
              <a:rPr sz="2000" dirty="0"/>
            </a:br>
            <a:r>
              <a:rPr sz="2000" dirty="0"/>
              <a:t>Two controls changed together</a:t>
            </a:r>
            <a:br>
              <a:rPr sz="2000" dirty="0"/>
            </a:br>
            <a:br>
              <a:rPr sz="2000" dirty="0"/>
            </a:br>
            <a:r>
              <a:rPr sz="2000" dirty="0"/>
              <a:t>app-test is a controlled client, not a full production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325880"/>
            <a:ext cx="32918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1444752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1" y="1886832"/>
            <a:ext cx="302455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000" dirty="0"/>
              <a:t>Keep databases unexposed</a:t>
            </a:r>
            <a:br>
              <a:rPr sz="2000" dirty="0"/>
            </a:br>
            <a:br>
              <a:rPr sz="2000" dirty="0"/>
            </a:br>
            <a:r>
              <a:rPr sz="2000" dirty="0"/>
              <a:t>Use dedicated application networks</a:t>
            </a:r>
            <a:br>
              <a:rPr sz="2000" dirty="0"/>
            </a:br>
            <a:br>
              <a:rPr sz="2000" dirty="0"/>
            </a:br>
            <a:r>
              <a:rPr sz="2000" dirty="0"/>
              <a:t>Store secrets outside Compose files</a:t>
            </a:r>
            <a:br>
              <a:rPr sz="2000" dirty="0"/>
            </a:br>
            <a:br>
              <a:rPr sz="2000" dirty="0"/>
            </a:br>
            <a:r>
              <a:rPr sz="2000" dirty="0"/>
              <a:t>Add CI security checks</a:t>
            </a:r>
            <a:br>
              <a:rPr sz="2000" dirty="0"/>
            </a:br>
            <a:br>
              <a:rPr sz="2000" dirty="0"/>
            </a:br>
            <a:r>
              <a:rPr sz="2000" dirty="0"/>
              <a:t>Retest after runtime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15. Conclusion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3619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2768"/>
            <a:ext cx="100337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</a:defRPr>
            </a:pPr>
            <a:r>
              <a:rPr sz="2400" dirty="0"/>
              <a:t>The controlled experiment supports the hypothesis: the segmented Docker configuration blocked host-originated connectivity to PostgreSQL and Redis while preserving application-container connectivity to both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24688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08736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544568"/>
            <a:ext cx="2286000" cy="393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t>BLOCKED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3977639"/>
            <a:ext cx="256032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4087368"/>
            <a:ext cx="2377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APP-TEST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4544568"/>
            <a:ext cx="2377439" cy="393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t>ALLOWED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337560"/>
            <a:ext cx="228600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34472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POSTGRES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904487"/>
            <a:ext cx="2103120" cy="393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t>ALLOWED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4572000"/>
            <a:ext cx="228600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46817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REDIS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5138928"/>
            <a:ext cx="2103120" cy="393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1F5F9"/>
                </a:solidFill>
              </a:defRPr>
            </a:pPr>
            <a:r>
              <a:t>ALLOWED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11880" y="4498848"/>
            <a:ext cx="1143000" cy="0"/>
          </a:xfrm>
          <a:prstGeom prst="line">
            <a:avLst/>
          </a:prstGeom>
          <a:ln w="31750">
            <a:solidFill>
              <a:srgbClr val="F8717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06640" y="3886200"/>
            <a:ext cx="1097280" cy="45720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4663440"/>
            <a:ext cx="1097280" cy="41148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06240" y="5669280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</a:defRPr>
            </a:pPr>
            <a:r>
              <a:t>Questions?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15/15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61F00-B485-D9EA-D849-38C325BD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7DCB39-D36E-DE56-8B2E-695E0F7D453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3558-26D4-D5F6-204A-D7D3274AB39E}"/>
              </a:ext>
            </a:extLst>
          </p:cNvPr>
          <p:cNvSpPr txBox="1"/>
          <p:nvPr/>
        </p:nvSpPr>
        <p:spPr>
          <a:xfrm>
            <a:off x="1097280" y="1872768"/>
            <a:ext cx="87588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1F5F9"/>
                </a:solidFill>
              </a:defRPr>
            </a:pPr>
            <a:r>
              <a:rPr lang="en-GB" sz="9600" dirty="0"/>
              <a:t>THANK YOU</a:t>
            </a:r>
            <a:endParaRPr sz="9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A35AD7-963B-7C27-1527-00529D6D968D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Docker Network Segmentation Security Project  •  15/15</a:t>
            </a:r>
          </a:p>
        </p:txBody>
      </p:sp>
    </p:spTree>
    <p:extLst>
      <p:ext uri="{BB962C8B-B14F-4D97-AF65-F5344CB8AC3E}">
        <p14:creationId xmlns:p14="http://schemas.microsoft.com/office/powerpoint/2010/main" val="3146596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893</Words>
  <Application>Microsoft Office PowerPoint</Application>
  <PresentationFormat>Widescreen</PresentationFormat>
  <Paragraphs>170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vickson</dc:creator>
  <cp:keywords/>
  <dc:description>generated using python-pptx</dc:description>
  <cp:lastModifiedBy>VICTOR ANI</cp:lastModifiedBy>
  <cp:revision>3</cp:revision>
  <dcterms:created xsi:type="dcterms:W3CDTF">2013-01-27T09:14:16Z</dcterms:created>
  <dcterms:modified xsi:type="dcterms:W3CDTF">2026-09-10T19:57:07Z</dcterms:modified>
  <cp:category/>
</cp:coreProperties>
</file>